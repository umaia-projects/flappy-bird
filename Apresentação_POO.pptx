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37" r:id="rId2"/>
    <p:sldId id="432" r:id="rId3"/>
    <p:sldId id="415" r:id="rId4"/>
    <p:sldId id="381" r:id="rId5"/>
    <p:sldId id="416" r:id="rId6"/>
    <p:sldId id="399" r:id="rId7"/>
    <p:sldId id="421" r:id="rId8"/>
    <p:sldId id="419" r:id="rId9"/>
    <p:sldId id="428" r:id="rId10"/>
    <p:sldId id="429" r:id="rId11"/>
    <p:sldId id="417" r:id="rId12"/>
    <p:sldId id="406" r:id="rId13"/>
    <p:sldId id="422" r:id="rId14"/>
    <p:sldId id="423" r:id="rId15"/>
    <p:sldId id="424" r:id="rId16"/>
    <p:sldId id="425" r:id="rId17"/>
    <p:sldId id="426" r:id="rId18"/>
    <p:sldId id="427" r:id="rId19"/>
    <p:sldId id="407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889" autoAdjust="0"/>
  </p:normalViewPr>
  <p:slideViewPr>
    <p:cSldViewPr snapToGrid="0">
      <p:cViewPr varScale="1">
        <p:scale>
          <a:sx n="133" d="100"/>
          <a:sy n="133" d="100"/>
        </p:scale>
        <p:origin x="966" y="12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931F56A-EDDF-8845-154C-0020D49139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05BF8CF-E56E-3F8E-ACDC-D3AA80A74E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8BC0F-A61E-47C1-96E6-4D96359B535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BF50A85-F899-2C61-A9D1-0B74EC0CC7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67BC649-1A3B-52FA-2B69-F7894BE613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F7D73-C3DE-4E5D-9CFC-1C6960113F8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9836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27CC0-6A5C-4F1E-9264-E5C2DF40A015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70411-B17F-4266-A590-56320EBD56A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823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980C-0A03-D9E2-AB76-6952F1E3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FB01985-CE72-0CD2-6BCB-C6B1801B0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E36814F-A6D8-EAD4-7FD3-2A1666C0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07000"/>
              </a:lnSpc>
            </a:pP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DC5418-6743-8A54-7EE9-18865420D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258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8D9E-2BBF-65D2-91CB-98B2DBBA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379ADF3-DCFC-F6B3-DC82-A644739C2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FC2969E-E2EF-98F2-1B93-48BAE4D15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D64BE70-FF58-42E2-A619-F71008E84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357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F46C-BD63-314A-C04B-D90C679B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C455B7E-5B33-34F9-7242-48BE8DB25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F6E9561-626E-9F14-586F-111C82D0E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711B2CC-32E0-27B3-2D0A-577914BA2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253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20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CD44-F90F-02EA-FBCF-135B92D8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5EF9B9D-EBBF-171B-6BEF-330A38D74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8DDA4DD-E232-9223-0AC2-A440EF44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692FF6D-0D86-4973-529B-B4112993F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041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63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2D36-16D3-E8AE-F571-4ABC875F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541BDB7-6930-F08E-9C58-5B8CF5C68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1661769-110E-8105-8199-2B6A12575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D9F5E47-0237-7322-EE05-B9ABE6C46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274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B868-F3DB-8FDF-7834-0BA57C08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0DBA70A-2687-CAAF-0FC5-65CEB2739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73DE2E3-1168-7502-3680-2940D310E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b="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5DBA69A-CBD5-A237-D193-1136A558A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56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C466-F31E-696C-8EDF-24E519A8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EA5ADF2-EDCD-CFA2-7C63-A0E292395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F6DFC9A-B492-C9E6-F628-4BFDD00C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25F1F3-CB65-F7DC-9536-58FCD87CE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020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F7F9B-84E8-9BE2-4586-C26516D5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838E883-37E1-6D4C-9BC6-C7E762521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98E135E-51B5-D5F6-35F2-D4826454A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b="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902D31-23CB-7401-DE48-B3CF8FDF3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09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2C60D-0515-4748-0564-71137388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90972AC-58B6-C4AD-EE0A-38CFB84E2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54C3025-7D51-B0FC-803E-224224BDC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C80A839-548D-51AB-883D-8302307C6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421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856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8348-97E7-5E6E-335E-1667B2A4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C069C0B-30AB-4C44-8A34-DA314CFF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8D15AC7-2D53-B820-EACF-2AAED89DE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1AD6A73-721D-639F-DF0D-F18F41C02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63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DD81-7693-E842-0053-F4197E13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65424C0-C6C5-98E2-EEA8-3AB8CA1DB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3A4E907-C475-B50E-A4F9-A8895D338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4FA1C8-3CD1-7DCF-9D57-554C5D12F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792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A9F1-F5EF-BBD8-CA5B-97D5B2AF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2ED54D9-F076-0EB4-7C5F-21E9524C9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4A475F7-3CA6-220C-33FD-C445F85B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FE0460F-417A-8275-1F6D-865BC538A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056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E8A02-9AA4-F526-A9C1-AB6352EA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1837B6A-2256-3317-CE0F-4ADBB7CA3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0956414-32A6-ACBB-53C1-61BA8E97C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DB64BEA-8E84-D4F1-C0E3-2F3C08D4B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444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77E9-BE93-973A-29E1-28B99413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912D0BF-5E90-32D2-A770-F542C4653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243E518-56B7-79D0-B127-E6950D354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DAD7E44-FB11-3FC8-6CD9-AA15C8C3C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628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FE97-FF1C-87E6-C67B-E2BD45EA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624CFFF-6771-FD29-8055-B37F1D22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FE38534-DC67-2B50-A85D-1C36BBF8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C2FB8F-5F41-545D-CA39-92D3C3089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270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5F6F5-8474-3AF8-650C-09AC4302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CB4344B-B56E-25C2-74DC-DB5A1F5F5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8F77A26-BD7A-51C0-ABFC-7B96495E2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ABBC9B-CEE1-F0DB-423B-B8615EA99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3249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70411-B17F-4266-A590-56320EBD56A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797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89B06-CEA4-4FD0-8340-0A4FF5F123C3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05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9B96D-AE04-42AA-AC03-515A559551D8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6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E0944-F4E1-4A6D-AE91-124753818AB3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29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A783-4ADE-4661-82FA-855B23F21D2B}" type="datetime1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55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AE69-EEB4-4476-8CA1-8455253BF112}" type="datetime1">
              <a:rPr lang="en-GB" smtClean="0"/>
              <a:t>08/01/2026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45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97A8-BEF9-4C33-8845-292026CC6B03}" type="datetime1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4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5DC-35D7-49C2-8AFC-2246F680F238}" type="datetime1">
              <a:rPr lang="en-GB" smtClean="0"/>
              <a:t>08/01/2026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32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423-5F86-4707-B563-D6D31FB13853}" type="datetime1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6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287-F1FF-4F1C-A40D-E137C1AF8B9B}" type="datetime1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203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E22A0-A50E-4A70-ADD7-CAFD368567F7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6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7B15-7505-462D-902D-DF4BF16D645A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00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5011F-9693-492A-AFF9-F98D53AFD0FD}" type="datetime1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B9CD3-78D4-4CB5-BC3B-5C455E8D986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04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SyZQVJiARTQ" TargetMode="External"/><Relationship Id="rId5" Type="http://schemas.openxmlformats.org/officeDocument/2006/relationships/hyperlink" Target="https://youtu.be/qPVkRtuf9CQ" TargetMode="External"/><Relationship Id="rId4" Type="http://schemas.openxmlformats.org/officeDocument/2006/relationships/hyperlink" Target="https://www.orac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3AAB-62BF-4AD1-1B48-08C66B1A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38A68172-39C9-DA49-8464-2D61C5E22D06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5C855F-753E-BF66-320B-456316BF50B5}"/>
              </a:ext>
            </a:extLst>
          </p:cNvPr>
          <p:cNvSpPr txBox="1"/>
          <p:nvPr/>
        </p:nvSpPr>
        <p:spPr>
          <a:xfrm>
            <a:off x="628650" y="1258807"/>
            <a:ext cx="7886700" cy="451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noProof="0" dirty="0"/>
          </a:p>
          <a:p>
            <a:pPr algn="ctr"/>
            <a:r>
              <a:rPr lang="en-US" sz="3200" b="1" noProof="0" dirty="0" err="1"/>
              <a:t>Programação</a:t>
            </a:r>
            <a:r>
              <a:rPr lang="en-US" sz="3200" b="1" noProof="0" dirty="0"/>
              <a:t> </a:t>
            </a:r>
            <a:r>
              <a:rPr lang="en-US" sz="3200" b="1" noProof="0" dirty="0" err="1"/>
              <a:t>Orientada</a:t>
            </a:r>
            <a:r>
              <a:rPr lang="en-US" sz="3200" b="1" noProof="0" dirty="0"/>
              <a:t> a </a:t>
            </a:r>
            <a:r>
              <a:rPr lang="en-US" sz="3200" b="1" noProof="0" dirty="0" err="1"/>
              <a:t>Objetos</a:t>
            </a:r>
            <a:endParaRPr lang="en-US" sz="3200" b="1" noProof="0" dirty="0"/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lang="en-US" sz="3200" b="1" noProof="0" dirty="0">
                <a:solidFill>
                  <a:schemeClr val="accent6">
                    <a:lumMod val="50000"/>
                  </a:schemeClr>
                </a:solidFill>
              </a:rPr>
              <a:t>Flappy Bird</a:t>
            </a:r>
          </a:p>
          <a:p>
            <a:pPr algn="ctr">
              <a:spcAft>
                <a:spcPts val="800"/>
              </a:spcAft>
            </a:pPr>
            <a:r>
              <a:rPr lang="en-US" sz="2800" noProof="0" dirty="0"/>
              <a:t>Game Development</a:t>
            </a:r>
          </a:p>
          <a:p>
            <a:pPr algn="ctr">
              <a:spcAft>
                <a:spcPts val="800"/>
              </a:spcAft>
            </a:pPr>
            <a:endParaRPr lang="en-US" sz="2000" i="1" u="none" strike="noStrike" baseline="0" noProof="0" dirty="0"/>
          </a:p>
          <a:p>
            <a:pPr algn="ctr">
              <a:spcAft>
                <a:spcPts val="800"/>
              </a:spcAft>
            </a:pPr>
            <a:r>
              <a:rPr lang="en-US" sz="2000" i="1" u="none" strike="noStrike" baseline="0" noProof="0" dirty="0"/>
              <a:t>Designing and Implementing a Game using </a:t>
            </a:r>
            <a:r>
              <a:rPr lang="en-US" sz="2000" i="1" u="none" strike="noStrike" baseline="0" noProof="0" dirty="0" err="1"/>
              <a:t>Lanterna</a:t>
            </a:r>
            <a:r>
              <a:rPr lang="en-US" sz="2000" i="1" u="none" strike="noStrike" baseline="0" noProof="0" dirty="0"/>
              <a:t> Library</a:t>
            </a:r>
            <a:endParaRPr lang="en-US" sz="2000" i="1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r>
              <a:rPr lang="en-US" noProof="0" dirty="0"/>
              <a:t>Marta Vieira (A046756@umaia.pt)</a:t>
            </a:r>
          </a:p>
          <a:p>
            <a:pPr algn="ctr"/>
            <a:r>
              <a:rPr lang="en-US" noProof="0" dirty="0"/>
              <a:t>Juliana Moreira (A047152@umaia.pt)</a:t>
            </a:r>
          </a:p>
          <a:p>
            <a:pPr algn="ctr"/>
            <a:r>
              <a:rPr lang="en-US" noProof="0" dirty="0"/>
              <a:t>Felipe Castilho (A0</a:t>
            </a:r>
            <a:r>
              <a:rPr lang="en-US" dirty="0"/>
              <a:t>47188</a:t>
            </a:r>
            <a:r>
              <a:rPr lang="en-US" noProof="0" dirty="0"/>
              <a:t>@umaia.pt)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41DE656-E98D-4AD9-9B84-086B4187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0535C1-4F48-5677-2693-4CCA63DC6A7B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EB7682C2-9A6A-4FFF-AA27-B9D1F0310239}"/>
              </a:ext>
            </a:extLst>
          </p:cNvPr>
          <p:cNvSpPr/>
          <p:nvPr/>
        </p:nvSpPr>
        <p:spPr>
          <a:xfrm rot="20040358">
            <a:off x="177916" y="4014037"/>
            <a:ext cx="2458655" cy="734506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549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2538-78C1-E465-8547-A962605A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CEDFC1F3-8827-16EA-EFA1-BAD5FACD6C61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040A85E-0D57-C911-C1FF-0428E2D9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65684D-C0DA-8A5B-7104-5E1F1162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noProof="0" dirty="0">
                <a:latin typeface="+mn-lt"/>
              </a:rPr>
              <a:t>Demo do Jogo</a:t>
            </a:r>
          </a:p>
        </p:txBody>
      </p:sp>
      <p:pic>
        <p:nvPicPr>
          <p:cNvPr id="7" name="Imagem 6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B3B72104-8ABC-A6CF-29E7-38CD4939C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75" y="1791686"/>
            <a:ext cx="7572650" cy="344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76FF-A642-A242-2B58-DEF72528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BBF6A647-DCC8-F76A-5D8E-999675A8E221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1148B0E-7603-718C-B169-2B0C0891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89A4F2-9067-86E6-0260-F980607B9BEC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/>
              <a:t>Mecânicas implementadas</a:t>
            </a:r>
          </a:p>
        </p:txBody>
      </p:sp>
    </p:spTree>
    <p:extLst>
      <p:ext uri="{BB962C8B-B14F-4D97-AF65-F5344CB8AC3E}">
        <p14:creationId xmlns:p14="http://schemas.microsoft.com/office/powerpoint/2010/main" val="418232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C046E-8DBE-A6A3-6FFD-CD32BFED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noProof="0" dirty="0" err="1">
                <a:latin typeface="+mn-lt"/>
              </a:rPr>
              <a:t>Mecânicas</a:t>
            </a:r>
            <a:r>
              <a:rPr lang="en-US" sz="2400" noProof="0" dirty="0">
                <a:latin typeface="+mn-lt"/>
              </a:rPr>
              <a:t> </a:t>
            </a:r>
            <a:r>
              <a:rPr lang="en-US" sz="2400" noProof="0" dirty="0" err="1">
                <a:latin typeface="+mn-lt"/>
              </a:rPr>
              <a:t>Implementadas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1F51E22-9D28-1BC5-39FC-5CDECF2EAA77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759CFBE-DDED-D0ED-117F-307BB511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14BA6E-6F15-0C82-D48B-C561BDA0509A}"/>
              </a:ext>
            </a:extLst>
          </p:cNvPr>
          <p:cNvSpPr txBox="1"/>
          <p:nvPr/>
        </p:nvSpPr>
        <p:spPr>
          <a:xfrm>
            <a:off x="628650" y="1211182"/>
            <a:ext cx="7886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>
              <a:spcAft>
                <a:spcPts val="800"/>
              </a:spcAft>
            </a:pPr>
            <a:r>
              <a:rPr lang="pt-PT" sz="2000" noProof="0" dirty="0"/>
              <a:t>O jogo foi desenvolvido com as seguintes mecânicas principais:</a:t>
            </a:r>
          </a:p>
          <a:p>
            <a:pPr marL="0" lvl="1" algn="just">
              <a:spcAft>
                <a:spcPts val="800"/>
              </a:spcAft>
            </a:pPr>
            <a:endParaRPr lang="pt-PT" sz="2000" noProof="0" dirty="0"/>
          </a:p>
          <a:p>
            <a:pPr marL="342900" lvl="1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b="1" noProof="0" dirty="0"/>
              <a:t>Objetivo</a:t>
            </a:r>
            <a:r>
              <a:rPr lang="pt-PT" sz="2000" noProof="0" dirty="0"/>
              <a:t>: Passar pelo maior número possível de </a:t>
            </a:r>
            <a:r>
              <a:rPr lang="pt-PT" sz="2000" noProof="0" dirty="0" err="1"/>
              <a:t>pipes</a:t>
            </a:r>
            <a:r>
              <a:rPr lang="pt-PT" sz="2000" noProof="0" dirty="0"/>
              <a:t> sem colidir</a:t>
            </a:r>
          </a:p>
          <a:p>
            <a:pPr marL="342900" lvl="1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b="1" noProof="0" dirty="0"/>
              <a:t>Controlos</a:t>
            </a:r>
            <a:r>
              <a:rPr lang="pt-PT" sz="2000" noProof="0" dirty="0"/>
              <a:t>: Barra de espaço para fazer o pássaro voar</a:t>
            </a:r>
          </a:p>
          <a:p>
            <a:pPr marL="342900" lvl="1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b="1" noProof="0" dirty="0"/>
              <a:t>Física</a:t>
            </a:r>
            <a:r>
              <a:rPr lang="pt-PT" sz="2000" noProof="0" dirty="0"/>
              <a:t>: Simulada com gravidade e velocidade (voo e queda)</a:t>
            </a:r>
          </a:p>
          <a:p>
            <a:pPr marL="342900" lvl="1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b="1" noProof="0" dirty="0"/>
              <a:t>Pontuação</a:t>
            </a:r>
            <a:r>
              <a:rPr lang="pt-PT" sz="2000" noProof="0" dirty="0"/>
              <a:t>: 1 ponto por cada </a:t>
            </a:r>
            <a:r>
              <a:rPr lang="pt-PT" sz="2000" noProof="0" dirty="0" err="1"/>
              <a:t>pipe</a:t>
            </a:r>
            <a:r>
              <a:rPr lang="pt-PT" sz="2000" noProof="0" dirty="0"/>
              <a:t> ultrapassado com sucesso</a:t>
            </a:r>
          </a:p>
          <a:p>
            <a:pPr marL="342900" lvl="1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b="1" noProof="0" dirty="0" err="1"/>
              <a:t>Best</a:t>
            </a:r>
            <a:r>
              <a:rPr lang="pt-PT" sz="2000" b="1" noProof="0" dirty="0"/>
              <a:t> Score</a:t>
            </a:r>
            <a:r>
              <a:rPr lang="pt-PT" sz="2000" noProof="0" dirty="0"/>
              <a:t>: Sistema que guarda a melhor pontuação durante a sessão</a:t>
            </a:r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446B19CA-EC1C-8169-4DB5-3DE022027D3A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</p:spTree>
    <p:extLst>
      <p:ext uri="{BB962C8B-B14F-4D97-AF65-F5344CB8AC3E}">
        <p14:creationId xmlns:p14="http://schemas.microsoft.com/office/powerpoint/2010/main" val="154089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42B3C-0C3F-9521-37DF-2A1976EB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C9F772B-2DD9-9CE5-E567-D001F1F509FB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30A4E81-6848-854D-ACFA-88F59F6D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90142C-D2A9-6FC0-DE9E-A4915C6F1BE8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/>
              <a:t>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253352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C046E-8DBE-A6A3-6FFD-CD32BFED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noProof="0" dirty="0" err="1">
                <a:latin typeface="+mn-lt"/>
              </a:rPr>
              <a:t>Funcionalidades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1F51E22-9D28-1BC5-39FC-5CDECF2EAA77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759CFBE-DDED-D0ED-117F-307BB511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14BA6E-6F15-0C82-D48B-C561BDA0509A}"/>
              </a:ext>
            </a:extLst>
          </p:cNvPr>
          <p:cNvSpPr txBox="1"/>
          <p:nvPr/>
        </p:nvSpPr>
        <p:spPr>
          <a:xfrm>
            <a:off x="628650" y="2035904"/>
            <a:ext cx="7886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Sistema de Física do Bird - Gravidade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noProof="0" dirty="0"/>
              <a:t>Sistema de Pipes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noProof="0" dirty="0"/>
              <a:t>Sistema de </a:t>
            </a:r>
            <a:r>
              <a:rPr lang="en-US" sz="2000" noProof="0" dirty="0" err="1"/>
              <a:t>Colisões</a:t>
            </a:r>
            <a:endParaRPr lang="en-US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noProof="0" dirty="0"/>
              <a:t>Sistema de </a:t>
            </a:r>
            <a:r>
              <a:rPr lang="en-US" sz="2000" noProof="0" dirty="0" err="1"/>
              <a:t>Pontuação</a:t>
            </a:r>
            <a:endParaRPr lang="en-US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noProof="0" dirty="0"/>
              <a:t>Sistema de </a:t>
            </a:r>
            <a:r>
              <a:rPr lang="en-US" sz="2000" noProof="0" dirty="0" err="1"/>
              <a:t>Controlos</a:t>
            </a:r>
            <a:endParaRPr lang="en-US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Sistema de Estados do Jogo</a:t>
            </a:r>
            <a:endParaRPr lang="en-US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Sons, sprites.. entre outros</a:t>
            </a:r>
            <a:endParaRPr lang="en-US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08D10922-1209-CA9A-E223-CD1D94C12958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9" name="Imagem 8" descr="Uma imagem com captura de ecrã, design, tipografia&#10;&#10;Os conteúdos gerados por IA podem estar incorretos.">
            <a:extLst>
              <a:ext uri="{FF2B5EF4-FFF2-40B4-BE49-F238E27FC236}">
                <a16:creationId xmlns:a16="http://schemas.microsoft.com/office/drawing/2014/main" id="{5FAF4DDD-F682-7119-8B2D-98417F7C4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712" y="2734304"/>
            <a:ext cx="41052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E731-3B43-9434-E8F4-8B2DCA81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642420AB-DB96-221D-CA0D-B7447D24978E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6782036-E9E4-1B59-4BAA-673EEC629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32E696-F3F0-96AE-F9C1-D628C9EBB4ED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800"/>
              </a:spcBef>
              <a:spcAft>
                <a:spcPts val="300"/>
              </a:spcAft>
            </a:pPr>
            <a:r>
              <a:rPr lang="en-US" sz="3200" b="1" dirty="0"/>
              <a:t>Sistema de Pipes</a:t>
            </a:r>
            <a:endParaRPr lang="en-US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327016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1561-2504-5469-4C55-F41477FB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40754-43B3-2970-1D34-1A91C6DF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Sistema de Pipes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641E3487-3EF5-07AE-D7B8-E39DF70EC1D6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0071012-269E-13CE-ABD5-404C56D1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ED0390-F142-93E2-5CAE-495C1609DE5D}"/>
              </a:ext>
            </a:extLst>
          </p:cNvPr>
          <p:cNvSpPr txBox="1"/>
          <p:nvPr/>
        </p:nvSpPr>
        <p:spPr>
          <a:xfrm>
            <a:off x="628650" y="1211182"/>
            <a:ext cx="788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000" noProof="0" dirty="0"/>
              <a:t>Sistema de Pipes </a:t>
            </a:r>
            <a:r>
              <a:rPr lang="en-US" sz="2000" noProof="0" dirty="0" err="1"/>
              <a:t>tem</a:t>
            </a:r>
            <a:r>
              <a:rPr lang="en-US" sz="2000" noProof="0" dirty="0"/>
              <a:t> </a:t>
            </a:r>
            <a:r>
              <a:rPr lang="en-US" sz="2000" noProof="0" dirty="0" err="1"/>
              <a:t>uma</a:t>
            </a:r>
            <a:r>
              <a:rPr lang="en-US" sz="2000" noProof="0" dirty="0"/>
              <a:t> </a:t>
            </a:r>
            <a:r>
              <a:rPr lang="en-US" sz="2000" noProof="0" dirty="0" err="1"/>
              <a:t>geração</a:t>
            </a:r>
            <a:r>
              <a:rPr lang="en-US" sz="2000" noProof="0" dirty="0"/>
              <a:t> continua da </a:t>
            </a:r>
            <a:r>
              <a:rPr lang="en-US" sz="2000" noProof="0" dirty="0" err="1"/>
              <a:t>direita</a:t>
            </a:r>
            <a:r>
              <a:rPr lang="en-US" sz="2000" noProof="0" dirty="0"/>
              <a:t> para a </a:t>
            </a:r>
            <a:r>
              <a:rPr lang="en-US" sz="2000" noProof="0" dirty="0" err="1"/>
              <a:t>esquerda</a:t>
            </a:r>
            <a:r>
              <a:rPr lang="en-US" sz="2000" noProof="0" dirty="0"/>
              <a:t>: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A posição do Gap vertical é randomizada entre limites seguros.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 err="1"/>
              <a:t>Pipes</a:t>
            </a:r>
            <a:r>
              <a:rPr lang="pt-PT" sz="2000" noProof="0" dirty="0"/>
              <a:t> que saem do ecrã são removidos automaticamente.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Os </a:t>
            </a:r>
            <a:r>
              <a:rPr lang="pt-PT" sz="2000" noProof="0" dirty="0" err="1"/>
              <a:t>pipes</a:t>
            </a:r>
            <a:r>
              <a:rPr lang="pt-PT" sz="2000" noProof="0" dirty="0"/>
              <a:t> têm um espaço de 25 pixéis entre si.</a:t>
            </a:r>
            <a:endParaRPr lang="en-US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CD13276B-5B20-372F-19FC-84AC68B0DFAC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10" name="Imagem 9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9E3CA9B2-CC84-2621-0B49-EFD1CC5ED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76" y="3100265"/>
            <a:ext cx="4304702" cy="1830675"/>
          </a:xfrm>
          <a:prstGeom prst="rect">
            <a:avLst/>
          </a:prstGeom>
        </p:spPr>
      </p:pic>
      <p:pic>
        <p:nvPicPr>
          <p:cNvPr id="14" name="Imagem 13" descr="Uma imagem com texto, captura de ecrã, Tipo de letra, software&#10;&#10;Os conteúdos gerados por IA podem estar incorretos.">
            <a:extLst>
              <a:ext uri="{FF2B5EF4-FFF2-40B4-BE49-F238E27FC236}">
                <a16:creationId xmlns:a16="http://schemas.microsoft.com/office/drawing/2014/main" id="{9D3C6A70-7AAC-C5EA-9415-DB8FEB6B9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284" y="4096195"/>
            <a:ext cx="4021049" cy="1224055"/>
          </a:xfrm>
          <a:prstGeom prst="rect">
            <a:avLst/>
          </a:prstGeom>
        </p:spPr>
      </p:pic>
      <p:pic>
        <p:nvPicPr>
          <p:cNvPr id="16" name="Imagem 15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153ECABC-80FE-4090-0656-A1908D668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285" y="3100265"/>
            <a:ext cx="4021049" cy="886908"/>
          </a:xfrm>
          <a:prstGeom prst="rect">
            <a:avLst/>
          </a:prstGeom>
        </p:spPr>
      </p:pic>
      <p:pic>
        <p:nvPicPr>
          <p:cNvPr id="18" name="Imagem 17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3DB0EDE0-96CB-D27C-3ED6-A364A663E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76" y="5031884"/>
            <a:ext cx="4309386" cy="132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408D-9A4A-9649-0BDF-D4D0DF00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F987B0C6-6004-3B2C-B3C3-1CB5806AE591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E582776-BF65-AD5E-EBA3-6BB6A960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A815C1-2F4D-53B4-5504-0931980B63FB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800"/>
              </a:spcBef>
              <a:spcAft>
                <a:spcPts val="300"/>
              </a:spcAft>
            </a:pPr>
            <a:r>
              <a:rPr lang="en-US" sz="3200" b="1" dirty="0"/>
              <a:t>Sistema de </a:t>
            </a:r>
            <a:r>
              <a:rPr lang="en-US" sz="3200" b="1" dirty="0" err="1"/>
              <a:t>Colisões</a:t>
            </a:r>
            <a:endParaRPr lang="en-US" sz="3200" b="1" noProof="0" dirty="0"/>
          </a:p>
        </p:txBody>
      </p:sp>
    </p:spTree>
    <p:extLst>
      <p:ext uri="{BB962C8B-B14F-4D97-AF65-F5344CB8AC3E}">
        <p14:creationId xmlns:p14="http://schemas.microsoft.com/office/powerpoint/2010/main" val="398551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442A-63E7-8ADF-8243-98C0C0DC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9A3E7-35FF-2A54-9819-C877E800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noProof="0" dirty="0">
                <a:latin typeface="+mn-lt"/>
              </a:rPr>
              <a:t>Sistema de </a:t>
            </a:r>
            <a:r>
              <a:rPr lang="en-US" sz="2400" noProof="0" dirty="0" err="1">
                <a:latin typeface="+mn-lt"/>
              </a:rPr>
              <a:t>Colisões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192ADB7D-D0BF-2BAE-A366-5CB8F24D0ECC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C6C7D8E-0AFB-A29B-7913-1B02089F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D38CAF-D886-1251-F9B6-F962CAFC61E2}"/>
              </a:ext>
            </a:extLst>
          </p:cNvPr>
          <p:cNvSpPr txBox="1"/>
          <p:nvPr/>
        </p:nvSpPr>
        <p:spPr>
          <a:xfrm>
            <a:off x="628650" y="1211182"/>
            <a:ext cx="7886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pt-PT" sz="2000" noProof="0" dirty="0"/>
              <a:t>Para detetar colisões, implementámos um sistema de </a:t>
            </a:r>
            <a:r>
              <a:rPr lang="pt-PT" sz="2000" noProof="0" dirty="0" err="1"/>
              <a:t>hitbox</a:t>
            </a:r>
            <a:r>
              <a:rPr lang="pt-PT" sz="2000" noProof="0" dirty="0"/>
              <a:t>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O Bird tem uma </a:t>
            </a:r>
            <a:r>
              <a:rPr lang="pt-PT" sz="2000" noProof="0" dirty="0" err="1"/>
              <a:t>hitbox</a:t>
            </a:r>
            <a:r>
              <a:rPr lang="pt-PT" sz="2000" noProof="0" dirty="0"/>
              <a:t> de 8×4 caracteres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dirty="0"/>
              <a:t>A d</a:t>
            </a:r>
            <a:r>
              <a:rPr lang="pt-PT" sz="2000" noProof="0" dirty="0" err="1"/>
              <a:t>eteção</a:t>
            </a:r>
            <a:r>
              <a:rPr lang="pt-PT" sz="2000" dirty="0"/>
              <a:t>  da colisão v</a:t>
            </a:r>
            <a:r>
              <a:rPr lang="pt-PT" sz="2000" noProof="0" dirty="0" err="1"/>
              <a:t>erifica</a:t>
            </a:r>
            <a:r>
              <a:rPr lang="pt-PT" sz="2000" noProof="0" dirty="0"/>
              <a:t> a sobreposição entre limites do </a:t>
            </a:r>
            <a:r>
              <a:rPr lang="pt-PT" sz="2000" noProof="0" dirty="0" err="1"/>
              <a:t>bird</a:t>
            </a:r>
            <a:r>
              <a:rPr lang="pt-PT" sz="2000" noProof="0" dirty="0"/>
              <a:t> e dos </a:t>
            </a:r>
            <a:r>
              <a:rPr lang="pt-PT" sz="2000" noProof="0" dirty="0" err="1"/>
              <a:t>pipes</a:t>
            </a:r>
            <a:r>
              <a:rPr lang="pt-PT" sz="2000" noProof="0" dirty="0"/>
              <a:t>/paredes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dirty="0"/>
              <a:t>A r</a:t>
            </a:r>
            <a:r>
              <a:rPr lang="pt-PT" sz="2000" noProof="0" dirty="0" err="1"/>
              <a:t>esposta</a:t>
            </a:r>
            <a:r>
              <a:rPr lang="pt-PT" sz="2000" noProof="0" dirty="0"/>
              <a:t> à colisão corresponde á mudança de </a:t>
            </a:r>
            <a:r>
              <a:rPr lang="pt-PT" sz="2000" noProof="0" dirty="0" err="1"/>
              <a:t>sprite</a:t>
            </a:r>
            <a:r>
              <a:rPr lang="pt-PT" sz="2000" noProof="0" dirty="0"/>
              <a:t>, reprodução de sons (impacto e morte), animação de queda e transição para game </a:t>
            </a:r>
            <a:r>
              <a:rPr lang="pt-PT" sz="2000" noProof="0" dirty="0" err="1"/>
              <a:t>over</a:t>
            </a:r>
            <a:r>
              <a:rPr lang="pt-PT" sz="2000" noProof="0" dirty="0"/>
              <a:t>.</a:t>
            </a:r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4897C609-5686-F904-73DA-AFC4D520D96A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7" name="Imagem 6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E28CE6D8-EDD7-2715-DFBF-4371936F6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51" y="3838235"/>
            <a:ext cx="3485002" cy="2137765"/>
          </a:xfrm>
          <a:prstGeom prst="rect">
            <a:avLst/>
          </a:prstGeom>
        </p:spPr>
      </p:pic>
      <p:pic>
        <p:nvPicPr>
          <p:cNvPr id="10" name="Imagem 9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9ACDC4B7-2595-42EE-4D89-8189E6B0E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38235"/>
            <a:ext cx="3493302" cy="213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1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ADC97-EB1B-9D67-7A0A-8A9D1817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95B5AF6E-0DF4-9478-9B06-E21B2C2F615E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74AA632-5E81-C11B-B781-E8E2C134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1B6D96-BAEB-ECCB-4D20-9F0134CBF480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800"/>
              </a:spcBef>
              <a:spcAft>
                <a:spcPts val="300"/>
              </a:spcAft>
            </a:pPr>
            <a:r>
              <a:rPr lang="en-US" sz="3200" b="1" noProof="0" dirty="0"/>
              <a:t>Sistema de </a:t>
            </a:r>
            <a:r>
              <a:rPr lang="en-US" sz="3200" b="1" noProof="0" dirty="0" err="1"/>
              <a:t>Gravidade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368955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C046E-8DBE-A6A3-6FFD-CD32BFED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pt-PT" sz="2400" noProof="0" dirty="0">
                <a:latin typeface="+mn-lt"/>
              </a:rPr>
              <a:t>Sistema de Gravidade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1F51E22-9D28-1BC5-39FC-5CDECF2EAA77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759CFBE-DDED-D0ED-117F-307BB511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14BA6E-6F15-0C82-D48B-C561BDA0509A}"/>
              </a:ext>
            </a:extLst>
          </p:cNvPr>
          <p:cNvSpPr txBox="1"/>
          <p:nvPr/>
        </p:nvSpPr>
        <p:spPr>
          <a:xfrm>
            <a:off x="628650" y="1211182"/>
            <a:ext cx="7886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200A608C-5E12-13ED-3E57-D27C00FA2682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63C57E-1F42-5B7E-8D28-AD6B4DF0217F}"/>
              </a:ext>
            </a:extLst>
          </p:cNvPr>
          <p:cNvSpPr txBox="1"/>
          <p:nvPr/>
        </p:nvSpPr>
        <p:spPr>
          <a:xfrm>
            <a:off x="628650" y="1211182"/>
            <a:ext cx="7886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pt-PT" sz="2000" noProof="0" dirty="0"/>
              <a:t>Criamos um sistema de física simples para atualizar  a posição do </a:t>
            </a:r>
            <a:r>
              <a:rPr lang="pt-PT" sz="2000" noProof="0" dirty="0" err="1"/>
              <a:t>bird</a:t>
            </a:r>
            <a:r>
              <a:rPr lang="pt-PT" sz="2000" noProof="0" dirty="0"/>
              <a:t>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A Gravidade consiste de uma aceleração constante para baixo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O salto torna a </a:t>
            </a:r>
            <a:r>
              <a:rPr lang="pt-PT" sz="2000" dirty="0"/>
              <a:t>v</a:t>
            </a:r>
            <a:r>
              <a:rPr lang="pt-PT" sz="2000" noProof="0" dirty="0" err="1"/>
              <a:t>elocidade</a:t>
            </a:r>
            <a:r>
              <a:rPr lang="pt-PT" sz="2000" noProof="0" dirty="0"/>
              <a:t> negativa ao pressionar espaço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Obtemos um movimento contínuo com a atualização da posição do </a:t>
            </a:r>
            <a:r>
              <a:rPr lang="pt-PT" sz="2000" noProof="0" dirty="0" err="1"/>
              <a:t>bird</a:t>
            </a:r>
            <a:r>
              <a:rPr lang="pt-PT" sz="2000" noProof="0" dirty="0"/>
              <a:t> a cada </a:t>
            </a:r>
            <a:r>
              <a:rPr lang="pt-PT" sz="2000" noProof="0" dirty="0" err="1"/>
              <a:t>frame</a:t>
            </a:r>
            <a:r>
              <a:rPr lang="pt-PT" sz="2000" noProof="0" dirty="0"/>
              <a:t> baseada na velocidade atual</a:t>
            </a:r>
          </a:p>
        </p:txBody>
      </p:sp>
      <p:pic>
        <p:nvPicPr>
          <p:cNvPr id="11" name="Imagem 10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0328E18C-6A5F-99B8-8E1E-EC089DE6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601462"/>
            <a:ext cx="73342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8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1A0B-77E5-DE8F-6AFA-1AEF195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C3F0467F-07DB-9769-C96F-B0106DA4E83A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1FD5380-E320-C531-B390-9C3E0240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B32152-8863-DBC6-1300-DD2A4AB8AC3D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800"/>
              </a:spcBef>
              <a:spcAft>
                <a:spcPts val="300"/>
              </a:spcAft>
            </a:pPr>
            <a:r>
              <a:rPr lang="pt-PT" sz="3200" dirty="0"/>
              <a:t>Sistema de Pontuação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176942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E059-9580-28BA-0216-064D314F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C7CA6-BEF8-EBF6-DCFC-A35A36A2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pt-PT" sz="2400" noProof="0" dirty="0">
                <a:latin typeface="+mn-lt"/>
              </a:rPr>
              <a:t>Sistema de Pontuação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E29AEB9F-6614-EB0D-859A-D85162EF3662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7DFD9E4-362A-0F10-9221-72EC9881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3356F2-03A3-13A0-A3BA-8BC93E72AD8C}"/>
              </a:ext>
            </a:extLst>
          </p:cNvPr>
          <p:cNvSpPr txBox="1"/>
          <p:nvPr/>
        </p:nvSpPr>
        <p:spPr>
          <a:xfrm>
            <a:off x="628650" y="1211182"/>
            <a:ext cx="7886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/>
              <a:t>Para a Pontuação usando uma interface </a:t>
            </a:r>
            <a:r>
              <a:rPr lang="pt-PT" dirty="0" err="1"/>
              <a:t>Scoring</a:t>
            </a:r>
            <a:r>
              <a:rPr lang="pt-PT" sz="2000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O Score é atualizado quando </a:t>
            </a:r>
            <a:r>
              <a:rPr lang="pt-PT" sz="2000" dirty="0" err="1"/>
              <a:t>bird</a:t>
            </a:r>
            <a:r>
              <a:rPr lang="pt-PT" sz="2000" dirty="0"/>
              <a:t> passa completamente um </a:t>
            </a:r>
            <a:r>
              <a:rPr lang="pt-PT" sz="2000" dirty="0" err="1"/>
              <a:t>pipe</a:t>
            </a:r>
            <a:endParaRPr lang="pt-PT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Best</a:t>
            </a:r>
            <a:r>
              <a:rPr lang="pt-PT" sz="2000" dirty="0"/>
              <a:t> Score:  mantém o registo da melhor pontuação da sessão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O Display do Score é visível no canto superior esquerdo durante o jogo</a:t>
            </a:r>
          </a:p>
          <a:p>
            <a:pPr algn="just">
              <a:spcAft>
                <a:spcPts val="800"/>
              </a:spcAft>
            </a:pPr>
            <a:endParaRPr lang="en-US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772A339B-ED54-0ED0-74A9-73B63405F00A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7" name="Imagem 6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C2465118-D038-E452-2AF8-5974DACF3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163" y="3429000"/>
            <a:ext cx="5363438" cy="291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01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CDEE-22BE-22F7-CF2F-4D266F9F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FB51D4A7-5FF2-5300-BE6F-47B6FC0749C8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959A088-DC82-F8DB-12AB-2E8E8DD0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1F5C6-9B6A-E204-30DF-17498FE8D19D}"/>
              </a:ext>
            </a:extLst>
          </p:cNvPr>
          <p:cNvSpPr txBox="1"/>
          <p:nvPr/>
        </p:nvSpPr>
        <p:spPr>
          <a:xfrm>
            <a:off x="628650" y="3223757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800"/>
              </a:spcBef>
              <a:spcAft>
                <a:spcPts val="300"/>
              </a:spcAft>
            </a:pPr>
            <a:r>
              <a:rPr lang="pt-PT" sz="3200" dirty="0"/>
              <a:t>Implementação de Testes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117578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0069-CF1B-DEAD-B247-7723ECBE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22F89-3330-C64D-3B51-BD96BF01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pt-PT" sz="2400" noProof="0" dirty="0">
                <a:latin typeface="+mn-lt"/>
              </a:rPr>
              <a:t>Implementação de Testes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FAC4891E-3037-58B0-26AF-29DCC9436EB4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F2DAA6B-94C3-3A1F-C8DE-90FC3643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72F7E5-3D49-A73D-E24E-7C85D5BEC079}"/>
              </a:ext>
            </a:extLst>
          </p:cNvPr>
          <p:cNvSpPr txBox="1"/>
          <p:nvPr/>
        </p:nvSpPr>
        <p:spPr>
          <a:xfrm>
            <a:off x="628650" y="1211182"/>
            <a:ext cx="788670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PT" sz="2000" noProof="0" dirty="0"/>
              <a:t>ArenaTest.java: Funcionalidades críticas da arena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Colisão com paredes e </a:t>
            </a:r>
            <a:r>
              <a:rPr lang="pt-PT" sz="2000" noProof="0" dirty="0" err="1"/>
              <a:t>pipes</a:t>
            </a:r>
            <a:endParaRPr lang="pt-PT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Comportamento sem colisão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Sistema de pontuação</a:t>
            </a:r>
          </a:p>
          <a:p>
            <a:pPr algn="just">
              <a:spcAft>
                <a:spcPts val="800"/>
              </a:spcAft>
            </a:pPr>
            <a:endParaRPr lang="pt-PT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39716E87-13FC-CE61-6EBA-6E43B7C18F49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7" name="Imagem 6" descr="Uma imagem com texto, software, Software de multimédia, captura de ecrã&#10;&#10;Os conteúdos gerados por IA podem estar incorretos.">
            <a:extLst>
              <a:ext uri="{FF2B5EF4-FFF2-40B4-BE49-F238E27FC236}">
                <a16:creationId xmlns:a16="http://schemas.microsoft.com/office/drawing/2014/main" id="{FB40E720-F15E-47E3-E549-606DDBCD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870"/>
          <a:stretch>
            <a:fillRect/>
          </a:stretch>
        </p:blipFill>
        <p:spPr>
          <a:xfrm>
            <a:off x="1579857" y="3605234"/>
            <a:ext cx="5984286" cy="144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D5D3A-C071-814F-59A4-954DE7538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D4F77-0AB6-C44C-735D-698112FA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pt-PT" sz="2400" noProof="0" dirty="0">
                <a:latin typeface="+mn-lt"/>
              </a:rPr>
              <a:t>Implementação de Testes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F179B295-4EC3-FE25-1A5F-59C6AA337E0A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3A2FE52-0041-1FEB-B4CD-E2397792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7A23D5-A0D4-7BB3-787A-C47BFAD84D90}"/>
              </a:ext>
            </a:extLst>
          </p:cNvPr>
          <p:cNvSpPr txBox="1"/>
          <p:nvPr/>
        </p:nvSpPr>
        <p:spPr>
          <a:xfrm>
            <a:off x="628650" y="1211182"/>
            <a:ext cx="788670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PT" sz="2000" noProof="0" dirty="0"/>
              <a:t>BirdTest.java: Comportamentos básicos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Estados do </a:t>
            </a:r>
            <a:r>
              <a:rPr lang="pt-PT" sz="2000" noProof="0" dirty="0" err="1"/>
              <a:t>bird</a:t>
            </a:r>
            <a:r>
              <a:rPr lang="pt-PT" sz="2000" noProof="0" dirty="0"/>
              <a:t> (</a:t>
            </a:r>
            <a:r>
              <a:rPr lang="pt-PT" sz="2000" noProof="0" dirty="0" err="1"/>
              <a:t>getState</a:t>
            </a:r>
            <a:r>
              <a:rPr lang="pt-PT" sz="2000" noProof="0" dirty="0"/>
              <a:t>(), </a:t>
            </a:r>
            <a:r>
              <a:rPr lang="pt-PT" sz="2000" noProof="0" dirty="0" err="1"/>
              <a:t>setState</a:t>
            </a:r>
            <a:r>
              <a:rPr lang="pt-PT" sz="2000" noProof="0" dirty="0"/>
              <a:t>())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Posicionamento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 err="1"/>
              <a:t>Hitbox</a:t>
            </a:r>
            <a:endParaRPr lang="pt-PT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F88F797A-7ABB-22C6-0B63-ECB0D0EB18E1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4" name="Imagem 3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509DB09C-5314-A2CC-8713-ABAB50A8B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18"/>
          <a:stretch>
            <a:fillRect/>
          </a:stretch>
        </p:blipFill>
        <p:spPr>
          <a:xfrm>
            <a:off x="2019600" y="3252767"/>
            <a:ext cx="5104800" cy="24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2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77EF-844A-719B-3724-5302448F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C741C-16CC-AC7F-4A66-1B22B820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pt-PT" sz="2400" noProof="0" dirty="0">
                <a:latin typeface="+mn-lt"/>
              </a:rPr>
              <a:t>Implementação de Testes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60E3CEE3-167B-5DDC-67C1-30F7C5B858C0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BB169C1-5F79-0E7C-2E54-582F352D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9B9321-0C7D-438D-5BCA-E35B5B7A5C4B}"/>
              </a:ext>
            </a:extLst>
          </p:cNvPr>
          <p:cNvSpPr txBox="1"/>
          <p:nvPr/>
        </p:nvSpPr>
        <p:spPr>
          <a:xfrm>
            <a:off x="628650" y="1211182"/>
            <a:ext cx="788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PT" sz="2000" dirty="0"/>
              <a:t>P</a:t>
            </a:r>
            <a:r>
              <a:rPr lang="pt-PT" sz="2000" noProof="0" dirty="0"/>
              <a:t>ipeTest.java: Funcionalidade dos </a:t>
            </a:r>
            <a:r>
              <a:rPr lang="pt-PT" sz="2000" noProof="0" dirty="0" err="1"/>
              <a:t>pipes</a:t>
            </a:r>
            <a:endParaRPr lang="pt-PT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Posição e movimentação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Sistema de </a:t>
            </a:r>
            <a:r>
              <a:rPr lang="pt-PT" sz="2000" noProof="0" dirty="0" err="1"/>
              <a:t>scoring</a:t>
            </a:r>
            <a:endParaRPr lang="pt-PT" sz="2000" noProof="0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Gap</a:t>
            </a:r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F79FF796-6534-2D99-CA76-A021E09EDBCD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4" name="Imagem 3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6175A592-4E06-51AB-52E3-352B7C64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25" y="3429000"/>
            <a:ext cx="5161149" cy="23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29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5628-1960-5C57-D07F-66217D288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18A64-4EFB-1C10-8244-CD28EF3E4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399"/>
          </a:xfrm>
        </p:spPr>
        <p:txBody>
          <a:bodyPr>
            <a:normAutofit/>
          </a:bodyPr>
          <a:lstStyle/>
          <a:p>
            <a:r>
              <a:rPr lang="en-US" sz="2400" noProof="0" dirty="0" err="1">
                <a:latin typeface="+mn-lt"/>
              </a:rPr>
              <a:t>Conclusão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EBDC288A-ED83-9612-E1E5-838A4EDC64EB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C984227-3944-092E-633A-1FF77573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8FB19B-CF1F-B622-EF19-E442977CC71C}"/>
              </a:ext>
            </a:extLst>
          </p:cNvPr>
          <p:cNvSpPr txBox="1"/>
          <p:nvPr/>
        </p:nvSpPr>
        <p:spPr>
          <a:xfrm>
            <a:off x="628650" y="1211182"/>
            <a:ext cx="7886700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pt-PT" sz="2000" noProof="0" dirty="0" err="1"/>
              <a:t>Atravéz</a:t>
            </a:r>
            <a:r>
              <a:rPr lang="pt-PT" sz="2000" noProof="0" dirty="0"/>
              <a:t> da biblioteca Lanterna e dos conceitos lecionados nesta conseguimos criar este jogo que representa o uso exemplificado de conceitos como: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dirty="0"/>
              <a:t>H</a:t>
            </a:r>
            <a:r>
              <a:rPr lang="pt-PT" sz="2000" noProof="0" dirty="0" err="1"/>
              <a:t>erança</a:t>
            </a:r>
            <a:endParaRPr lang="pt-PT" sz="2000" noProof="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Interfaces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Polimorfismo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dirty="0"/>
              <a:t>T</a:t>
            </a:r>
            <a:r>
              <a:rPr lang="pt-PT" sz="2000" noProof="0" dirty="0" err="1"/>
              <a:t>hreads</a:t>
            </a:r>
            <a:endParaRPr lang="pt-PT" sz="20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000" noProof="0" dirty="0"/>
              <a:t>Testes de Implementa</a:t>
            </a:r>
            <a:r>
              <a:rPr lang="pt-PT" sz="2000" dirty="0" err="1"/>
              <a:t>ção</a:t>
            </a:r>
            <a:endParaRPr lang="pt-PT" sz="2000" noProof="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PT" sz="2000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900270C9-9A79-8C81-E0A2-D61B863A3300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  <p:pic>
        <p:nvPicPr>
          <p:cNvPr id="7" name="Imagem 6" descr="Uma imagem com Retângulo, captura de ecrã, quadrado, design&#10;&#10;Os conteúdos gerados por IA podem estar incorretos.">
            <a:extLst>
              <a:ext uri="{FF2B5EF4-FFF2-40B4-BE49-F238E27FC236}">
                <a16:creationId xmlns:a16="http://schemas.microsoft.com/office/drawing/2014/main" id="{B0FE3CA9-1CA5-7669-FD8E-BCE25AE3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03851"/>
            <a:ext cx="27717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68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C046E-8DBE-A6A3-6FFD-CD32BFED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89381"/>
          </a:xfrm>
        </p:spPr>
        <p:txBody>
          <a:bodyPr>
            <a:normAutofit/>
          </a:bodyPr>
          <a:lstStyle/>
          <a:p>
            <a:r>
              <a:rPr lang="en-US" sz="2400" noProof="0" dirty="0" err="1">
                <a:latin typeface="+mn-lt"/>
              </a:rPr>
              <a:t>Bibliografia</a:t>
            </a:r>
            <a:r>
              <a:rPr lang="en-US" sz="2400" noProof="0" dirty="0">
                <a:latin typeface="+mn-lt"/>
              </a:rPr>
              <a:t>, </a:t>
            </a:r>
            <a:r>
              <a:rPr lang="en-US" sz="2400" noProof="0" dirty="0" err="1">
                <a:latin typeface="+mn-lt"/>
              </a:rPr>
              <a:t>Recursos</a:t>
            </a:r>
            <a:r>
              <a:rPr lang="en-US" sz="2400" noProof="0" dirty="0">
                <a:latin typeface="+mn-lt"/>
              </a:rPr>
              <a:t> e </a:t>
            </a:r>
            <a:r>
              <a:rPr lang="en-US" sz="2400" noProof="0" dirty="0" err="1">
                <a:latin typeface="+mn-lt"/>
              </a:rPr>
              <a:t>Créditos</a:t>
            </a:r>
            <a:endParaRPr lang="en-US" sz="2400" noProof="0" dirty="0">
              <a:latin typeface="+mn-lt"/>
            </a:endParaRP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1F51E22-9D28-1BC5-39FC-5CDECF2EAA77}"/>
              </a:ext>
            </a:extLst>
          </p:cNvPr>
          <p:cNvCxnSpPr>
            <a:cxnSpLocks/>
          </p:cNvCxnSpPr>
          <p:nvPr/>
        </p:nvCxnSpPr>
        <p:spPr>
          <a:xfrm>
            <a:off x="628650" y="954508"/>
            <a:ext cx="78867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5EA07A-5A73-2F6D-E84B-252651FE65DF}"/>
              </a:ext>
            </a:extLst>
          </p:cNvPr>
          <p:cNvSpPr txBox="1"/>
          <p:nvPr/>
        </p:nvSpPr>
        <p:spPr>
          <a:xfrm>
            <a:off x="628650" y="1211182"/>
            <a:ext cx="7886700" cy="2944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https://stackoverflow.com/</a:t>
            </a:r>
            <a:endParaRPr lang="en-US" sz="2000" dirty="0"/>
          </a:p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https://www.oracle.com/</a:t>
            </a:r>
            <a:endParaRPr lang="en-US" sz="2000" dirty="0"/>
          </a:p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u="sng" dirty="0">
                <a:hlinkClick r:id="rId5" tooltip="https://youtu.be/qPVkRtuf9CQ"/>
              </a:rPr>
              <a:t>https://youtu.be/qPVkRtuf9CQ</a:t>
            </a:r>
            <a:endParaRPr lang="pt-PT" u="sng" dirty="0"/>
          </a:p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dirty="0">
                <a:hlinkClick r:id="rId6" tooltip="https://www.youtube.com/watch?v=SyZQVJiARTQ"/>
              </a:rPr>
              <a:t>https://www.youtube.com/watch?v=SyZQVJiARTQ</a:t>
            </a:r>
            <a:endParaRPr lang="pt-PT" dirty="0"/>
          </a:p>
          <a:p>
            <a:br>
              <a:rPr lang="pt-PT" dirty="0"/>
            </a:br>
            <a:endParaRPr lang="pt-PT" u="sng" dirty="0"/>
          </a:p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4400" indent="-2844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b="0" u="none" strike="noStrike" baseline="0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A2A3F44-FB0C-3E2E-6C39-6A4AE8B5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B9CD3-78D4-4CB5-BC3B-5C455E8D986E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DABB45B4-765D-2BF9-A1BE-F1AAB9D41F1E}"/>
              </a:ext>
            </a:extLst>
          </p:cNvPr>
          <p:cNvSpPr txBox="1"/>
          <p:nvPr/>
        </p:nvSpPr>
        <p:spPr>
          <a:xfrm>
            <a:off x="628650" y="6385024"/>
            <a:ext cx="778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DCCTI</a:t>
            </a:r>
          </a:p>
        </p:txBody>
      </p:sp>
    </p:spTree>
    <p:extLst>
      <p:ext uri="{BB962C8B-B14F-4D97-AF65-F5344CB8AC3E}">
        <p14:creationId xmlns:p14="http://schemas.microsoft.com/office/powerpoint/2010/main" val="3239310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23417</TotalTime>
  <Words>551</Words>
  <Application>Microsoft Office PowerPoint</Application>
  <PresentationFormat>Apresentação no Ecrã (4:3)</PresentationFormat>
  <Paragraphs>135</Paragraphs>
  <Slides>20</Slides>
  <Notes>20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Demo do Jogo</vt:lpstr>
      <vt:lpstr>Apresentação do PowerPoint</vt:lpstr>
      <vt:lpstr>Mecânicas Implementadas</vt:lpstr>
      <vt:lpstr>Apresentação do PowerPoint</vt:lpstr>
      <vt:lpstr>Funcionalidades</vt:lpstr>
      <vt:lpstr>Apresentação do PowerPoint</vt:lpstr>
      <vt:lpstr>Sistema de Pipes</vt:lpstr>
      <vt:lpstr>Apresentação do PowerPoint</vt:lpstr>
      <vt:lpstr>Sistema de Colisões</vt:lpstr>
      <vt:lpstr>Apresentação do PowerPoint</vt:lpstr>
      <vt:lpstr>Sistema de Gravidade</vt:lpstr>
      <vt:lpstr>Apresentação do PowerPoint</vt:lpstr>
      <vt:lpstr>Sistema de Pontuação</vt:lpstr>
      <vt:lpstr>Apresentação do PowerPoint</vt:lpstr>
      <vt:lpstr>Implementação de Testes</vt:lpstr>
      <vt:lpstr>Implementação de Testes</vt:lpstr>
      <vt:lpstr>Implementação de Testes</vt:lpstr>
      <vt:lpstr>Conclusão</vt:lpstr>
      <vt:lpstr>Bibliografia, Recursos e Créditos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and Design</dc:title>
  <dc:creator>José Duarte</dc:creator>
  <cp:lastModifiedBy>Marta Vieira</cp:lastModifiedBy>
  <cp:revision>621</cp:revision>
  <dcterms:created xsi:type="dcterms:W3CDTF">2023-06-01T23:23:10Z</dcterms:created>
  <dcterms:modified xsi:type="dcterms:W3CDTF">2026-01-08T15:45:17Z</dcterms:modified>
</cp:coreProperties>
</file>